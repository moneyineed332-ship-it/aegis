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1.png"/><Relationship Id="rId8" Type="http://schemas.openxmlformats.org/officeDocument/2006/relationships/image" Target="../media/image-4-1.png"/><Relationship Id="rId9" Type="http://schemas.openxmlformats.org/officeDocument/2006/relationships/image" Target="../media/image-4-1.png"/><Relationship Id="rId10" Type="http://schemas.openxmlformats.org/officeDocument/2006/relationships/image" Target="../media/image-4-1.png"/><Relationship Id="rId11" Type="http://schemas.openxmlformats.org/officeDocument/2006/relationships/image" Target="../media/image-4-1.png"/><Relationship Id="rId12" Type="http://schemas.openxmlformats.org/officeDocument/2006/relationships/image" Target="../media/image-4-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63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097280"/>
            <a:ext cx="4114800" cy="4114800"/>
          </a:xfrm>
          <a:prstGeom prst="ellipse">
            <a:avLst/>
          </a:prstGeom>
          <a:solidFill>
            <a:srgbClr val="1B3562"/>
          </a:solidFill>
          <a:ln/>
        </p:spPr>
      </p:sp>
      <p:pic>
        <p:nvPicPr>
          <p:cNvPr id="4" name="Image 0" descr="/home/claude/aegis_pptx/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TECHNIQUE — CONFIDENTIEL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777240" y="3520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QUANT V1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autonome de trading crypto — Vision, architecture et feuille de route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" y="5074920"/>
            <a:ext cx="2011680" cy="0"/>
          </a:xfrm>
          <a:prstGeom prst="line">
            <a:avLst/>
          </a:prstGeom>
          <a:noFill/>
          <a:ln w="25400">
            <a:solidFill>
              <a:srgbClr val="1B5F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allons 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41732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562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pic>
        <p:nvPicPr>
          <p:cNvPr id="6" name="Image 0" descr="/home/claude/aegis_pptx/icons/glob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212080" cy="141732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18562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pic>
        <p:nvPicPr>
          <p:cNvPr id="10" name="Image 1" descr="/home/claude/aegis_pptx/icons/laye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011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générale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5212080" cy="141732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593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pic>
        <p:nvPicPr>
          <p:cNvPr id="14" name="Image 2" descr="/home/claude/aegis_pptx/icons/cog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749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794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15 modules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309360" y="3429000"/>
            <a:ext cx="5212080" cy="141732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537960" y="3593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pic>
        <p:nvPicPr>
          <p:cNvPr id="18" name="Image 3" descr="/home/claude/aegis_pptx/icons/cod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37490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3794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40080" y="5166360"/>
            <a:ext cx="5212080" cy="141732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68680" y="5330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pic>
        <p:nvPicPr>
          <p:cNvPr id="22" name="Image 4" descr="/home/claude/aegis_pptx/icons/rocke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548640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5532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6309360" y="5166360"/>
            <a:ext cx="5212080" cy="141732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6537960" y="5330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pic>
        <p:nvPicPr>
          <p:cNvPr id="26" name="Image 5" descr="/home/claude/aegis_pptx/icons/star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0" y="548640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60920" y="5532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rend ce projet différent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système autonome de trading crypto capable de :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17647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6" name="Image 0" descr="/home/claude/aegis_pptx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74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774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les marchés 24h/24 et 7j/7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26080" y="16002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30752" y="17647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10" name="Image 1" descr="/home/claude/aegis_pptx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8745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35808" y="23774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contexte de marché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212080" y="16002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016752" y="17647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14" name="Image 2" descr="/home/claude/aegis_pptx/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7452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21808" y="23774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la stratégie la plus adaptée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498080" y="16002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02752" y="17647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18" name="Image 3" descr="/home/claude/aegis_pptx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8745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07808" y="23774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risque de façon stricte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784080" y="16002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588752" y="17647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22" name="Image 4" descr="/home/claude/aegis_pptx/icons/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0" y="187452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893808" y="23774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les ordres efficacement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40080" y="34290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444752" y="35935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26" name="Image 5" descr="/home/claude/aegis_pptx/icons/histor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70332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" y="4206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de ses erreurs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2926080" y="34290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730752" y="35935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30" name="Image 6" descr="/home/claude/aegis_pptx/icons/flas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3703320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035808" y="4206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ses propres améliorations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212080" y="34290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016752" y="35935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34" name="Image 7" descr="/home/claude/aegis_pptx/icons/rocke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703320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21808" y="4206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uniquement les améliorations validées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7498080" y="34290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302752" y="35935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38" name="Image 8" descr="/home/claude/aegis_pptx/icons/clipboar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3703320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607808" y="4206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chacune de ses décisions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9784080" y="3429000"/>
            <a:ext cx="2121408" cy="16002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10588752" y="3593592"/>
            <a:ext cx="512064" cy="512064"/>
          </a:xfrm>
          <a:prstGeom prst="ellipse">
            <a:avLst/>
          </a:prstGeom>
          <a:solidFill>
            <a:srgbClr val="1B5FA8"/>
          </a:solidFill>
          <a:ln/>
        </p:spPr>
      </p:sp>
      <p:pic>
        <p:nvPicPr>
          <p:cNvPr id="42" name="Image 9" descr="/home/claude/aegis_pptx/icons/chart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8480" y="3703320"/>
            <a:ext cx="292608" cy="29260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893808" y="4206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 à évoluer sans intervention permanente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640080" y="5623560"/>
            <a:ext cx="10881360" cy="594360"/>
          </a:xfrm>
          <a:prstGeom prst="rect">
            <a:avLst/>
          </a:prstGeom>
          <a:solidFill>
            <a:srgbClr val="10203D"/>
          </a:solidFill>
          <a:ln/>
        </p:spPr>
      </p:sp>
      <p:sp>
        <p:nvSpPr>
          <p:cNvPr id="45" name="Text 33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est de maximiser la robustesse et l'espérance de gain, pas de garantir des profits.</a:t>
            </a:r>
            <a:endParaRPr lang="en-US" sz="1400" dirty="0"/>
          </a:p>
        </p:txBody>
      </p:sp>
      <p:sp>
        <p:nvSpPr>
          <p:cNvPr id="46" name="Text 3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 GÉNÉRALE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linéaire, de la donnée brute au déploiement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965960" cy="777240"/>
          </a:xfrm>
          <a:prstGeom prst="rect">
            <a:avLst/>
          </a:prstGeom>
          <a:solidFill>
            <a:srgbClr val="1B5FA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pic>
        <p:nvPicPr>
          <p:cNvPr id="6" name="Image 0" descr="/home/claude/aegis_pptx/icons/arrowRigh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1888236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16352" y="160020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862072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100" dirty="0"/>
          </a:p>
        </p:txBody>
      </p:sp>
      <p:pic>
        <p:nvPicPr>
          <p:cNvPr id="9" name="Image 1" descr="/home/claude/aegis_pptx/icons/arrowRigh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88236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46904" y="160020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92624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100" dirty="0"/>
          </a:p>
        </p:txBody>
      </p:sp>
      <p:pic>
        <p:nvPicPr>
          <p:cNvPr id="12" name="Image 2" descr="/home/claude/aegis_pptx/icons/arrowRigh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1888236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077456" y="160020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7123176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pic>
        <p:nvPicPr>
          <p:cNvPr id="15" name="Image 3" descr="/home/claude/aegis_pptx/icons/arrowRigh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4" y="1888236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208008" y="160020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9253728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marché</a:t>
            </a:r>
            <a:endParaRPr lang="en-US" sz="1100" dirty="0"/>
          </a:p>
        </p:txBody>
      </p:sp>
      <p:pic>
        <p:nvPicPr>
          <p:cNvPr id="18" name="Image 4" descr="/home/claude/aegis_pptx/icons/arrowRigh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090404" y="2423160"/>
            <a:ext cx="201168" cy="20116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9208008" y="288036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9253728" y="2880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</a:t>
            </a:r>
            <a:endParaRPr lang="en-US" sz="1100" dirty="0"/>
          </a:p>
        </p:txBody>
      </p:sp>
      <p:pic>
        <p:nvPicPr>
          <p:cNvPr id="21" name="Image 5" descr="/home/claude/aegis_pptx/icons/arrowRigh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9025128" y="3168396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077456" y="288036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7123176" y="2880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risque</a:t>
            </a:r>
            <a:endParaRPr lang="en-US" sz="1100" dirty="0"/>
          </a:p>
        </p:txBody>
      </p:sp>
      <p:pic>
        <p:nvPicPr>
          <p:cNvPr id="24" name="Image 6" descr="/home/claude/aegis_pptx/icons/arrowRight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6894576" y="3168396"/>
            <a:ext cx="201168" cy="201168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4946904" y="288036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6" name="Text 17"/>
          <p:cNvSpPr/>
          <p:nvPr/>
        </p:nvSpPr>
        <p:spPr>
          <a:xfrm>
            <a:off x="4992624" y="2880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</a:t>
            </a:r>
            <a:endParaRPr lang="en-US" sz="1100" dirty="0"/>
          </a:p>
        </p:txBody>
      </p:sp>
      <p:pic>
        <p:nvPicPr>
          <p:cNvPr id="27" name="Image 7" descr="/home/claude/aegis_pptx/icons/arrowRight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4764024" y="3168396"/>
            <a:ext cx="201168" cy="20116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2816352" y="288036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9" name="Text 19"/>
          <p:cNvSpPr/>
          <p:nvPr/>
        </p:nvSpPr>
        <p:spPr>
          <a:xfrm>
            <a:off x="2862072" y="2880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endParaRPr lang="en-US" sz="1100" dirty="0"/>
          </a:p>
        </p:txBody>
      </p:sp>
      <p:pic>
        <p:nvPicPr>
          <p:cNvPr id="30" name="Image 8" descr="/home/claude/aegis_pptx/icons/arrowRight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2633472" y="3168396"/>
            <a:ext cx="201168" cy="201168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85800" y="288036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32" name="Text 21"/>
          <p:cNvSpPr/>
          <p:nvPr/>
        </p:nvSpPr>
        <p:spPr>
          <a:xfrm>
            <a:off x="731520" y="28803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</a:t>
            </a:r>
            <a:endParaRPr lang="en-US" sz="1100" dirty="0"/>
          </a:p>
        </p:txBody>
      </p:sp>
      <p:pic>
        <p:nvPicPr>
          <p:cNvPr id="33" name="Image 9" descr="/home/claude/aegis_pptx/icons/arrowRight_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568196" y="3703320"/>
            <a:ext cx="201168" cy="201168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85800" y="416052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35" name="Text 23"/>
          <p:cNvSpPr/>
          <p:nvPr/>
        </p:nvSpPr>
        <p:spPr>
          <a:xfrm>
            <a:off x="731520" y="4160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</a:t>
            </a:r>
            <a:endParaRPr lang="en-US" sz="1100" dirty="0"/>
          </a:p>
        </p:txBody>
      </p:sp>
      <p:pic>
        <p:nvPicPr>
          <p:cNvPr id="36" name="Image 10" descr="/home/claude/aegis_pptx/icons/arrowRight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0048" y="4448556"/>
            <a:ext cx="201168" cy="201168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2816352" y="4160520"/>
            <a:ext cx="196596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38" name="Text 25"/>
          <p:cNvSpPr/>
          <p:nvPr/>
        </p:nvSpPr>
        <p:spPr>
          <a:xfrm>
            <a:off x="2862072" y="4160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pic>
        <p:nvPicPr>
          <p:cNvPr id="39" name="Image 11" descr="/home/claude/aegis_pptx/icons/arrowRight_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4448556"/>
            <a:ext cx="201168" cy="201168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4946904" y="4160520"/>
            <a:ext cx="1965960" cy="777240"/>
          </a:xfrm>
          <a:prstGeom prst="rect">
            <a:avLst/>
          </a:prstGeom>
          <a:solidFill>
            <a:srgbClr val="1B5FA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41" name="Text 27"/>
          <p:cNvSpPr/>
          <p:nvPr/>
        </p:nvSpPr>
        <p:spPr>
          <a:xfrm>
            <a:off x="4992624" y="4160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1100" dirty="0"/>
          </a:p>
        </p:txBody>
      </p:sp>
      <p:sp>
        <p:nvSpPr>
          <p:cNvPr id="42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43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LES 15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 à 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713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7" name="Image 0" descr="/home/claude/aegis_pptx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6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63040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Collecteur de données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: OHLCV, order book, funding rate, liquidité...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: dominance BTC, Fear &amp; Greed, calendrier éco.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: capital, positions, historique — tout horodaté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16552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6552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3" name="Image 1" descr="/home/claude/aegis_pptx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7556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239512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90872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données manquantes et valeurs aberrantes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désynchronisation et doublons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décision sur données incohérentes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93024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93024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9" name="Image 2" descr="/home/claude/aegis_pptx/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7556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15984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015984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67344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techniques, volatilité, momentum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du carnet, déséquilibre acheteurs/vendeurs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et régimes de volatilité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LES 15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 à 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713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7" name="Image 0" descr="/home/claude/aegis_pptx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6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63040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marché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Range, Bull, Bear, Capitulation, Euphoria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forte et faible volatilité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Renvoie une distribution de probabilités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16552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6552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3" name="Image 1" descr="/home/claude/aegis_pptx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7556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239512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stratégies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90872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Trend Following, Mean Reversion, Breakout...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stratégie est indépendante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Sens, confiance, ratio risque/rendement, horizon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93024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93024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9" name="Image 2" descr="/home/claude/aegis_pptx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7556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15984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015984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IA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67344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votent : Analyste, Trader, Risque, Coach, Chercheur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combinés par des règles explicites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gestionnaire du risque garde un droit de veto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LES 15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 à 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713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7" name="Image 0" descr="/home/claude/aegis_pptx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6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63040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risque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Exposition, drawdown, VaR, CVaR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et corrélation dynamique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 sur scénarios extrêmes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16552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6552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3" name="Image 1" descr="/home/claude/aegis_pptx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7556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239512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intelligente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90872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automatique : limite, marché, fractionné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le slippage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frais et impact marché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93024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93024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9" name="Image 2" descr="/home/claude/aegis_pptx/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7556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15984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015984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intelligent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67344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données, contexte, stratégie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confiance et décision finale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entièrement traçable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LES 15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10 à 12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713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4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7" name="Image 0" descr="/home/claude/aegis_pptx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6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63040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Mémorise les configurations déjà rencontrées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avec des cas passés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Enrichit l'analyse des situations similaires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16552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6552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3" name="Image 1" descr="/home/claude/aegis_pptx/icons/chalk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7556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239512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90872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les erreurs récurrentes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les forces des stratégies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des améliorations sans jamais modifier le système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93024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93024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9" name="Image 2" descr="/home/claude/aegis_pptx/icons/flas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7556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15984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015984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67344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Backtests et walk-forward analysis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et comparaison à la version actuelle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Rejette toute idée sans amélioration robuste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LES 15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13 à 15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713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7" name="Image 0" descr="/home/claude/aegis_pptx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6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63040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 la santé du système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les performances en continu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un arrêt d'urgence si nécessaire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16552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6552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3" name="Image 1" descr="/home/claude/aegis_pptx/icons/gau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7556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239512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90872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PnL, drawdown en temps réel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actives et positions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et performance par stratégie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93024" y="1554480"/>
            <a:ext cx="3502152" cy="4343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93024" y="1554480"/>
            <a:ext cx="3502152" cy="868680"/>
          </a:xfrm>
          <a:prstGeom prst="rect">
            <a:avLst/>
          </a:prstGeom>
          <a:solidFill>
            <a:srgbClr val="10203D"/>
          </a:solidFill>
          <a:ln/>
        </p:spPr>
      </p:sp>
      <p:pic>
        <p:nvPicPr>
          <p:cNvPr id="19" name="Image 2" descr="/home/claude/aegis_pptx/icons/rock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7556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15984" y="16916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015984" y="19385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sécurisé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67344" y="2651760"/>
            <a:ext cx="29535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→ Simulation → Backtest → Walk Forward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→ Validation → Déploiement progressif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 rapide si dégradation en production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MODULE 15 : DÉPLOIEMENT SÉCURISÉ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idée suit un pipeline de validation avant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4350" y="2286000"/>
            <a:ext cx="1243584" cy="914400"/>
          </a:xfrm>
          <a:prstGeom prst="rect">
            <a:avLst/>
          </a:prstGeom>
          <a:solidFill>
            <a:srgbClr val="1B5FA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1782" y="2286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</a:t>
            </a:r>
            <a:endParaRPr lang="en-US" sz="1100" dirty="0"/>
          </a:p>
        </p:txBody>
      </p:sp>
      <p:pic>
        <p:nvPicPr>
          <p:cNvPr id="6" name="Image 0" descr="/home/claude/aegis_pptx/icons/arrowRigh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078" y="2651760"/>
            <a:ext cx="155448" cy="182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27098" y="2286000"/>
            <a:ext cx="1243584" cy="914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954530" y="2286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pic>
        <p:nvPicPr>
          <p:cNvPr id="9" name="Image 1" descr="/home/claude/aegis_pptx/icons/arrowRigh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26" y="2651760"/>
            <a:ext cx="155448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9846" y="2286000"/>
            <a:ext cx="1243584" cy="914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67278" y="2286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pic>
        <p:nvPicPr>
          <p:cNvPr id="12" name="Image 2" descr="/home/claude/aegis_pptx/icons/arrowRigh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574" y="2651760"/>
            <a:ext cx="155448" cy="1828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52594" y="2286000"/>
            <a:ext cx="1243584" cy="914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780026" y="2286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100" dirty="0"/>
          </a:p>
        </p:txBody>
      </p:sp>
      <p:pic>
        <p:nvPicPr>
          <p:cNvPr id="15" name="Image 3" descr="/home/claude/aegis_pptx/icons/arrowRigh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322" y="2651760"/>
            <a:ext cx="155448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65342" y="2286000"/>
            <a:ext cx="1243584" cy="914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192774" y="2286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</a:t>
            </a:r>
            <a:endParaRPr lang="en-US" sz="1100" dirty="0"/>
          </a:p>
        </p:txBody>
      </p:sp>
      <p:pic>
        <p:nvPicPr>
          <p:cNvPr id="18" name="Image 4" descr="/home/claude/aegis_pptx/icons/arrowRigh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070" y="2651760"/>
            <a:ext cx="155448" cy="182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578090" y="2286000"/>
            <a:ext cx="1243584" cy="914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7605522" y="2286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pic>
        <p:nvPicPr>
          <p:cNvPr id="21" name="Image 5" descr="/home/claude/aegis_pptx/icons/arrowRigh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0818" y="2651760"/>
            <a:ext cx="155448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90838" y="2286000"/>
            <a:ext cx="1243584" cy="91440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9018270" y="2286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progressif</a:t>
            </a:r>
            <a:endParaRPr lang="en-US" sz="1100" dirty="0"/>
          </a:p>
        </p:txBody>
      </p:sp>
      <p:pic>
        <p:nvPicPr>
          <p:cNvPr id="24" name="Image 6" descr="/home/claude/aegis_pptx/icons/arrowRight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3566" y="2651760"/>
            <a:ext cx="155448" cy="18288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10403586" y="2286000"/>
            <a:ext cx="1243584" cy="914400"/>
          </a:xfrm>
          <a:prstGeom prst="rect">
            <a:avLst/>
          </a:prstGeom>
          <a:solidFill>
            <a:srgbClr val="1B5FA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6" name="Text 17"/>
          <p:cNvSpPr/>
          <p:nvPr/>
        </p:nvSpPr>
        <p:spPr>
          <a:xfrm>
            <a:off x="10431018" y="2286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1371600" y="3931920"/>
            <a:ext cx="9418320" cy="77724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pic>
        <p:nvPicPr>
          <p:cNvPr id="28" name="Image 7" descr="/home/claude/aegis_pptx/icons/shield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4114800"/>
            <a:ext cx="411480" cy="4114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148840" y="39319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version peut être annulée rapidement si les performances réelles se dégradent.</a:t>
            </a:r>
            <a:endParaRPr lang="en-US" sz="1400" dirty="0"/>
          </a:p>
        </p:txBody>
      </p:sp>
      <p:sp>
        <p:nvSpPr>
          <p:cNvPr id="30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stack quantitative moderne et éprouvée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41248"/>
          </a:xfrm>
          <a:prstGeom prst="rect">
            <a:avLst/>
          </a:prstGeom>
          <a:solidFill>
            <a:srgbClr val="E4ED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64792"/>
            <a:ext cx="512064" cy="512064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6" name="Image 0" descr="/home/claude/aegis_pptx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8928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002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23360" y="160020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CCXT · WebSockets · asyncio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1088136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2724912"/>
            <a:ext cx="512064" cy="512064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11" name="Image 1" descr="/home/claude/aegis_pptx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85292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56032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023360" y="256032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Parquet · pandas · Polars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10881360" cy="841248"/>
          </a:xfrm>
          <a:prstGeom prst="rect">
            <a:avLst/>
          </a:prstGeom>
          <a:solidFill>
            <a:srgbClr val="E4ED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685032"/>
            <a:ext cx="512064" cy="512064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16" name="Image 2" descr="/home/claude/aegis_pptx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81304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52044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023360" y="352044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LightGBM · XGBoost · CatBoost · PyTorch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480560"/>
            <a:ext cx="1088136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645152"/>
            <a:ext cx="512064" cy="512064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21" name="Image 3" descr="/home/claude/aegis_pptx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77316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48056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023360" y="448056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vectorbt · LEAN (infrastructure quantitative avancée)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5440680"/>
            <a:ext cx="10881360" cy="841248"/>
          </a:xfrm>
          <a:prstGeom prst="rect">
            <a:avLst/>
          </a:prstGeom>
          <a:solidFill>
            <a:srgbClr val="E4EDF8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5605272"/>
            <a:ext cx="512064" cy="512064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26" name="Image 4" descr="/home/claude/aegis_pptx/icons/lay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73328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4406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023360" y="544068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GitHub Actions · Prometheus · Grafana · Telegram/Discord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phases, du MVP à l'autonomie complète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3352" y="2075688"/>
            <a:ext cx="8851392" cy="0"/>
          </a:xfrm>
          <a:prstGeom prst="line">
            <a:avLst/>
          </a:prstGeom>
          <a:noFill/>
          <a:ln w="38100">
            <a:solidFill>
              <a:srgbClr val="CFE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0744" y="1691640"/>
            <a:ext cx="585216" cy="585216"/>
          </a:xfrm>
          <a:prstGeom prst="ellipse">
            <a:avLst/>
          </a:prstGeom>
          <a:solidFill>
            <a:srgbClr val="1B5FA8"/>
          </a:solidFill>
          <a:ln/>
        </p:spPr>
      </p:sp>
      <p:sp>
        <p:nvSpPr>
          <p:cNvPr id="6" name="Text 4"/>
          <p:cNvSpPr/>
          <p:nvPr/>
        </p:nvSpPr>
        <p:spPr>
          <a:xfrm>
            <a:off x="1380744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2066544" cy="361188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697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3200400"/>
            <a:ext cx="1755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 données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stratégie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93592" y="1691640"/>
            <a:ext cx="585216" cy="585216"/>
          </a:xfrm>
          <a:prstGeom prst="ellipse">
            <a:avLst/>
          </a:prstGeom>
          <a:solidFill>
            <a:srgbClr val="1B5FA8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52928" y="2560320"/>
            <a:ext cx="2066544" cy="361188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90088" y="2697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17520" y="3200400"/>
            <a:ext cx="1755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stratégies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risque avancée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complet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1691640"/>
            <a:ext cx="585216" cy="585216"/>
          </a:xfrm>
          <a:prstGeom prst="ellipse">
            <a:avLst/>
          </a:prstGeom>
          <a:solidFill>
            <a:srgbClr val="1B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65776" y="2560320"/>
            <a:ext cx="2066544" cy="361188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02936" y="2697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30368" y="3200400"/>
            <a:ext cx="1755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du régime de marché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intelligente des signaux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paramètres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19288" y="1691640"/>
            <a:ext cx="585216" cy="585216"/>
          </a:xfrm>
          <a:prstGeom prst="ellipse">
            <a:avLst/>
          </a:prstGeom>
          <a:solidFill>
            <a:srgbClr val="1B5FA8"/>
          </a:solidFill>
          <a:ln/>
        </p:spPr>
      </p:sp>
      <p:sp>
        <p:nvSpPr>
          <p:cNvPr id="21" name="Text 19"/>
          <p:cNvSpPr/>
          <p:nvPr/>
        </p:nvSpPr>
        <p:spPr>
          <a:xfrm>
            <a:off x="8019288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78624" y="2560320"/>
            <a:ext cx="2066544" cy="361188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15784" y="2697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Auto-amélioration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43216" y="3200400"/>
            <a:ext cx="1755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automatisée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32136" y="1691640"/>
            <a:ext cx="585216" cy="585216"/>
          </a:xfrm>
          <a:prstGeom prst="ellipse">
            <a:avLst/>
          </a:prstGeom>
          <a:solidFill>
            <a:srgbClr val="1B5FA8"/>
          </a:solidFill>
          <a:ln/>
        </p:spPr>
      </p:sp>
      <p:sp>
        <p:nvSpPr>
          <p:cNvPr id="26" name="Text 24"/>
          <p:cNvSpPr/>
          <p:nvPr/>
        </p:nvSpPr>
        <p:spPr>
          <a:xfrm>
            <a:off x="10232136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491472" y="2560320"/>
            <a:ext cx="2066544" cy="3611880"/>
          </a:xfrm>
          <a:prstGeom prst="rect">
            <a:avLst/>
          </a:prstGeom>
          <a:solidFill>
            <a:srgbClr val="E4EDF8"/>
          </a:solidFill>
          <a:ln/>
          <a:effectLst>
            <a:outerShdw sx="100000" sy="100000" kx="0" ky="0" algn="bl" rotWithShape="0" blurRad="101600" dist="38100" dir="2700000">
              <a:srgbClr val="10203D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28632" y="2697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656064" y="3200400"/>
            <a:ext cx="1755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auto-évolutive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renforcée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6305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CE QUI REND CE PROJET DIFFÉRENT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qui apprend à construire et améliorer ses propres stratégies — de manière contrôlée.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est proposé, testé, validé puis déployé progressivement. Cette discipline réduit le risque de dégrader les performances en poursuivant des optimisations qui ne fonctionnent que sur les données historiques.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25400">
            <a:solidFill>
              <a:srgbClr val="1B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 — Robustesse avant tout.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AI QUANT V1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AI QUANT V1</dc:title>
  <dc:subject>PptxGenJS Presentation</dc:subject>
  <dc:creator>IRORA ZARA</dc:creator>
  <cp:lastModifiedBy>IRORA ZARA</cp:lastModifiedBy>
  <cp:revision>1</cp:revision>
  <dcterms:created xsi:type="dcterms:W3CDTF">2026-07-02T22:39:34Z</dcterms:created>
  <dcterms:modified xsi:type="dcterms:W3CDTF">2026-07-02T22:39:34Z</dcterms:modified>
</cp:coreProperties>
</file>